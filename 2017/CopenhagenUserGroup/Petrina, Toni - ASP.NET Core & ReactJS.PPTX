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5"/>
  </p:notesMasterIdLst>
  <p:handoutMasterIdLst>
    <p:handoutMasterId r:id="rId36"/>
  </p:handoutMasterIdLst>
  <p:sldIdLst>
    <p:sldId id="351" r:id="rId2"/>
    <p:sldId id="330" r:id="rId3"/>
    <p:sldId id="371" r:id="rId4"/>
    <p:sldId id="372" r:id="rId5"/>
    <p:sldId id="373" r:id="rId6"/>
    <p:sldId id="331" r:id="rId7"/>
    <p:sldId id="278" r:id="rId8"/>
    <p:sldId id="280" r:id="rId9"/>
    <p:sldId id="279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2" r:id="rId18"/>
    <p:sldId id="310" r:id="rId19"/>
    <p:sldId id="334" r:id="rId20"/>
    <p:sldId id="381" r:id="rId21"/>
    <p:sldId id="335" r:id="rId22"/>
    <p:sldId id="370" r:id="rId23"/>
    <p:sldId id="336" r:id="rId24"/>
    <p:sldId id="338" r:id="rId25"/>
    <p:sldId id="339" r:id="rId26"/>
    <p:sldId id="340" r:id="rId27"/>
    <p:sldId id="341" r:id="rId28"/>
    <p:sldId id="342" r:id="rId29"/>
    <p:sldId id="315" r:id="rId30"/>
    <p:sldId id="343" r:id="rId31"/>
    <p:sldId id="344" r:id="rId32"/>
    <p:sldId id="369" r:id="rId33"/>
    <p:sldId id="36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E8D0406-60FF-4914-9C12-74F9F858562B}">
          <p14:sldIdLst>
            <p14:sldId id="351"/>
            <p14:sldId id="330"/>
            <p14:sldId id="371"/>
            <p14:sldId id="372"/>
            <p14:sldId id="373"/>
            <p14:sldId id="331"/>
            <p14:sldId id="278"/>
            <p14:sldId id="280"/>
            <p14:sldId id="279"/>
            <p14:sldId id="374"/>
            <p14:sldId id="375"/>
            <p14:sldId id="376"/>
            <p14:sldId id="377"/>
            <p14:sldId id="378"/>
            <p14:sldId id="379"/>
            <p14:sldId id="380"/>
            <p14:sldId id="382"/>
            <p14:sldId id="310"/>
            <p14:sldId id="334"/>
            <p14:sldId id="381"/>
            <p14:sldId id="335"/>
            <p14:sldId id="370"/>
            <p14:sldId id="336"/>
            <p14:sldId id="338"/>
            <p14:sldId id="339"/>
            <p14:sldId id="340"/>
            <p14:sldId id="341"/>
            <p14:sldId id="342"/>
            <p14:sldId id="315"/>
            <p14:sldId id="343"/>
            <p14:sldId id="344"/>
            <p14:sldId id="369"/>
            <p14:sldId id="3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AF4A"/>
    <a:srgbClr val="272A30"/>
    <a:srgbClr val="858B9B"/>
    <a:srgbClr val="1DD3CF"/>
    <a:srgbClr val="262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88" autoAdjust="0"/>
    <p:restoredTop sz="94660"/>
  </p:normalViewPr>
  <p:slideViewPr>
    <p:cSldViewPr snapToGrid="0">
      <p:cViewPr>
        <p:scale>
          <a:sx n="119" d="100"/>
          <a:sy n="119" d="100"/>
        </p:scale>
        <p:origin x="136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6CC74-E312-4D83-871D-49AB1EEED709}" type="datetimeFigureOut">
              <a:rPr lang="en-US" smtClean="0"/>
              <a:t>11/24/17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9E974-55D1-4AFA-B0B7-E0D57E5E8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04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E111F-5A0B-844E-859C-1EB51F6FEFC7}" type="datetimeFigureOut">
              <a:rPr lang="en-US" smtClean="0"/>
              <a:t>11/24/17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B7836-604A-284E-944F-919F597C3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2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eloper Code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8917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189176"/>
            <a:ext cx="12192000" cy="56688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0" y="1197321"/>
            <a:ext cx="12192000" cy="5660679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3235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39726" indent="0">
              <a:buNone/>
              <a:defRPr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73090" indent="0">
              <a:buNone/>
              <a:defRPr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798516" indent="0">
              <a:buNone/>
              <a:defRPr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30292" indent="0">
              <a:buNone/>
              <a:defRPr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295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Pr>
        <a:solidFill>
          <a:srgbClr val="F26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86"/>
            <a:ext cx="9859116" cy="1158793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058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240" y="3877277"/>
            <a:ext cx="9860674" cy="724246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046414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181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9" name="Straight Connector 378"/>
          <p:cNvCxnSpPr>
            <a:cxnSpLocks/>
          </p:cNvCxnSpPr>
          <p:nvPr userDrawn="1"/>
        </p:nvCxnSpPr>
        <p:spPr>
          <a:xfrm>
            <a:off x="3422785" y="6473818"/>
            <a:ext cx="830249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1134315" y="1592312"/>
            <a:ext cx="2706170" cy="3054226"/>
          </a:xfrm>
          <a:prstGeom prst="rect">
            <a:avLst/>
          </a:prstGeom>
          <a:solidFill>
            <a:srgbClr val="858B9B"/>
          </a:solidFill>
        </p:spPr>
        <p:txBody>
          <a:bodyPr wrap="square">
            <a:no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5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4742915" y="1568915"/>
            <a:ext cx="2706170" cy="3054226"/>
          </a:xfrm>
          <a:prstGeom prst="rect">
            <a:avLst/>
          </a:prstGeom>
          <a:solidFill>
            <a:srgbClr val="858B9B"/>
          </a:solidFill>
        </p:spPr>
        <p:txBody>
          <a:bodyPr wrap="square">
            <a:no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351514" y="1568915"/>
            <a:ext cx="2706170" cy="3054226"/>
          </a:xfrm>
          <a:prstGeom prst="rect">
            <a:avLst/>
          </a:prstGeom>
          <a:solidFill>
            <a:srgbClr val="858B9B"/>
          </a:solidFill>
        </p:spPr>
        <p:txBody>
          <a:bodyPr wrap="square">
            <a:no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40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530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Accent Color 1">
    <p:bg>
      <p:bgPr>
        <a:solidFill>
          <a:srgbClr val="F26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158793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058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3461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11/24/17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C1E0-AAA7-4C11-AF43-DCBA92B1F6E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210279" y="534667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DBA9ED-0BD1-4583-826F-4EF9BAC8450E}" type="slidenum">
              <a:rPr lang="en-ID" sz="1600" b="0" smtClean="0">
                <a:solidFill>
                  <a:schemeClr val="bg1"/>
                </a:solidFill>
                <a:latin typeface="+mn-lt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ID" sz="2400" b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669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2" r:id="rId12"/>
    <p:sldLayoutId id="2147483784" r:id="rId13"/>
    <p:sldLayoutId id="2147483656" r:id="rId14"/>
    <p:sldLayoutId id="2147483664" r:id="rId15"/>
    <p:sldLayoutId id="2147483657" r:id="rId16"/>
    <p:sldLayoutId id="21474837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host/path" TargetMode="External"/><Relationship Id="rId3" Type="http://schemas.openxmlformats.org/officeDocument/2006/relationships/hyperlink" Target="http://host/path/actio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host/api/path" TargetMode="External"/><Relationship Id="rId4" Type="http://schemas.openxmlformats.org/officeDocument/2006/relationships/hyperlink" Target="http://host/path/action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host/path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ASP.NET Core &amp; </a:t>
            </a:r>
            <a:r>
              <a:rPr lang="en-US" dirty="0" err="1"/>
              <a:t>ReactJS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Toni Petrina</a:t>
            </a:r>
          </a:p>
          <a:p>
            <a:r>
              <a:rPr lang="en-US" dirty="0" smtClean="0"/>
              <a:t>@</a:t>
            </a:r>
            <a:r>
              <a:rPr lang="en-US" dirty="0" err="1" smtClean="0"/>
              <a:t>to_pe</a:t>
            </a:r>
            <a:endParaRPr lang="en-US" dirty="0" smtClean="0"/>
          </a:p>
          <a:p>
            <a:r>
              <a:rPr lang="en-US" dirty="0" smtClean="0"/>
              <a:t>Synergy Sports Technology, </a:t>
            </a:r>
            <a:r>
              <a:rPr lang="en-US" dirty="0" err="1" smtClean="0"/>
              <a:t>GigPin</a:t>
            </a:r>
            <a:r>
              <a:rPr lang="en-US" dirty="0" smtClean="0"/>
              <a:t>, Microsoft MVP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308" y="5266944"/>
            <a:ext cx="9271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6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SPA introduction</a:t>
            </a:r>
            <a:endParaRPr lang="en-US" dirty="0"/>
          </a:p>
          <a:p>
            <a:r>
              <a:rPr lang="en-US" dirty="0" smtClean="0"/>
              <a:t>ASP.NET Core, React, Typescript</a:t>
            </a:r>
            <a:endParaRPr lang="en-US" dirty="0"/>
          </a:p>
          <a:p>
            <a:r>
              <a:rPr lang="en-US" dirty="0" smtClean="0"/>
              <a:t>Conclusion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8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before SPA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http://host/path</a:t>
            </a:r>
            <a:endParaRPr lang="en-US" dirty="0" smtClean="0"/>
          </a:p>
          <a:p>
            <a:pPr lvl="1"/>
            <a:r>
              <a:rPr lang="en-US" dirty="0" smtClean="0"/>
              <a:t>Handle URL (routing)</a:t>
            </a:r>
          </a:p>
          <a:p>
            <a:pPr lvl="1"/>
            <a:r>
              <a:rPr lang="en-US" dirty="0" smtClean="0"/>
              <a:t>Go to database</a:t>
            </a:r>
          </a:p>
          <a:p>
            <a:pPr lvl="1"/>
            <a:r>
              <a:rPr lang="en-US" dirty="0" smtClean="0"/>
              <a:t>Generate HTML/CSS/JS and send to client</a:t>
            </a:r>
          </a:p>
          <a:p>
            <a:r>
              <a:rPr lang="en-US" dirty="0" smtClean="0"/>
              <a:t>Follow URL </a:t>
            </a: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host/path/action</a:t>
            </a:r>
            <a:endParaRPr lang="en-US" dirty="0" smtClean="0"/>
          </a:p>
          <a:p>
            <a:pPr lvl="1"/>
            <a:r>
              <a:rPr lang="en-US" dirty="0"/>
              <a:t>Handle URL (routing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Go to </a:t>
            </a:r>
            <a:r>
              <a:rPr lang="en-US" dirty="0" smtClean="0"/>
              <a:t>database</a:t>
            </a:r>
            <a:endParaRPr lang="en-US" dirty="0"/>
          </a:p>
          <a:p>
            <a:pPr lvl="1"/>
            <a:r>
              <a:rPr lang="en-US" dirty="0"/>
              <a:t>Generate HTML/CSS/JS and send to </a:t>
            </a:r>
            <a:r>
              <a:rPr lang="en-US" dirty="0" smtClean="0"/>
              <a:t>client</a:t>
            </a:r>
          </a:p>
          <a:p>
            <a:r>
              <a:rPr lang="mr-IN" dirty="0" smtClean="0"/>
              <a:t>…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9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2004 first SPA </a:t>
            </a:r>
            <a:r>
              <a:rPr lang="mr-IN" dirty="0" smtClean="0"/>
              <a:t>–</a:t>
            </a:r>
            <a:r>
              <a:rPr lang="en-US" dirty="0" smtClean="0"/>
              <a:t> </a:t>
            </a:r>
            <a:r>
              <a:rPr lang="en-US" dirty="0" err="1" smtClean="0"/>
              <a:t>GMail</a:t>
            </a:r>
            <a:r>
              <a:rPr lang="en-US" dirty="0" smtClean="0"/>
              <a:t> &amp; AJAX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generate HTML?</a:t>
            </a:r>
          </a:p>
          <a:p>
            <a:r>
              <a:rPr lang="en-US" dirty="0" smtClean="0"/>
              <a:t>How to handle styles?</a:t>
            </a:r>
          </a:p>
          <a:p>
            <a:r>
              <a:rPr lang="en-US" dirty="0" smtClean="0"/>
              <a:t>No module system for frontend</a:t>
            </a:r>
          </a:p>
          <a:p>
            <a:r>
              <a:rPr lang="en-US" dirty="0" smtClean="0"/>
              <a:t>CSS has similar issues </a:t>
            </a:r>
            <a:r>
              <a:rPr lang="mr-IN" dirty="0" smtClean="0"/>
              <a:t>–</a:t>
            </a:r>
            <a:r>
              <a:rPr lang="en-US" dirty="0" smtClean="0"/>
              <a:t> scoping, </a:t>
            </a:r>
            <a:r>
              <a:rPr lang="en-US" dirty="0" err="1" smtClean="0"/>
              <a:t>vars</a:t>
            </a:r>
            <a:r>
              <a:rPr lang="en-US" dirty="0" smtClean="0"/>
              <a:t>, </a:t>
            </a:r>
            <a:r>
              <a:rPr lang="en-US" dirty="0" err="1" smtClean="0"/>
              <a:t>etc</a:t>
            </a:r>
            <a:r>
              <a:rPr lang="mr-IN" dirty="0" smtClean="0"/>
              <a:t>…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85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before SPA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hlinkClick r:id="rId2"/>
              </a:rPr>
              <a:t>http://host/path</a:t>
            </a:r>
            <a:endParaRPr lang="en-US" sz="2400" dirty="0" smtClean="0"/>
          </a:p>
          <a:p>
            <a:pPr lvl="1"/>
            <a:r>
              <a:rPr lang="en-US" sz="2000" dirty="0" smtClean="0"/>
              <a:t>Fetch entire client side app</a:t>
            </a:r>
          </a:p>
          <a:p>
            <a:pPr lvl="1"/>
            <a:endParaRPr lang="en-US" sz="2000" dirty="0"/>
          </a:p>
          <a:p>
            <a:r>
              <a:rPr lang="en-US" dirty="0" smtClean="0"/>
              <a:t>Go to </a:t>
            </a:r>
            <a:r>
              <a:rPr lang="en-US" dirty="0" smtClean="0">
                <a:hlinkClick r:id="rId3"/>
              </a:rPr>
              <a:t>http://host/api/path</a:t>
            </a:r>
            <a:r>
              <a:rPr lang="en-US" dirty="0" smtClean="0"/>
              <a:t> </a:t>
            </a:r>
          </a:p>
          <a:p>
            <a:pPr lvl="1"/>
            <a:r>
              <a:rPr lang="en-US" sz="2000" strike="sngStrike" dirty="0" smtClean="0"/>
              <a:t>Generate HTML/CSS/JS and send to client</a:t>
            </a:r>
            <a:r>
              <a:rPr lang="en-US" sz="2000" dirty="0" smtClean="0"/>
              <a:t> send JSON/XML/</a:t>
            </a:r>
            <a:r>
              <a:rPr lang="en-US" sz="2000" dirty="0" err="1" smtClean="0"/>
              <a:t>ProtoBuff</a:t>
            </a:r>
            <a:endParaRPr lang="en-US" sz="2000" dirty="0" smtClean="0"/>
          </a:p>
          <a:p>
            <a:pPr lvl="1"/>
            <a:r>
              <a:rPr lang="en-US" sz="2000" dirty="0" smtClean="0"/>
              <a:t>Render result on client</a:t>
            </a:r>
          </a:p>
          <a:p>
            <a:r>
              <a:rPr lang="en-US" sz="2400" dirty="0" smtClean="0"/>
              <a:t>Follow URL </a:t>
            </a:r>
            <a:r>
              <a:rPr lang="en-US" sz="2400" dirty="0">
                <a:hlinkClick r:id="rId4"/>
              </a:rPr>
              <a:t>http://</a:t>
            </a:r>
            <a:r>
              <a:rPr lang="en-US" sz="2400" dirty="0" smtClean="0">
                <a:hlinkClick r:id="rId4"/>
              </a:rPr>
              <a:t>host/path/action</a:t>
            </a:r>
            <a:r>
              <a:rPr lang="en-US" sz="2400" dirty="0" smtClean="0"/>
              <a:t> in client only! go to API endpoint</a:t>
            </a:r>
          </a:p>
          <a:p>
            <a:pPr lvl="1"/>
            <a:r>
              <a:rPr lang="en-US" sz="2000" strike="sngStrike" dirty="0" smtClean="0"/>
              <a:t>Generate </a:t>
            </a:r>
            <a:r>
              <a:rPr lang="en-US" sz="2000" strike="sngStrike" dirty="0"/>
              <a:t>HTML/CSS/JS and send to </a:t>
            </a:r>
            <a:r>
              <a:rPr lang="en-US" sz="2000" strike="sngStrike" dirty="0" smtClean="0"/>
              <a:t>client</a:t>
            </a:r>
            <a:r>
              <a:rPr lang="en-US" sz="2000" dirty="0" smtClean="0"/>
              <a:t> send JSON/XML/</a:t>
            </a:r>
            <a:r>
              <a:rPr lang="en-US" sz="2000" dirty="0" err="1" smtClean="0"/>
              <a:t>ProtoBuff</a:t>
            </a:r>
            <a:endParaRPr lang="en-US" sz="2000" strike="sngStrike" dirty="0" smtClean="0"/>
          </a:p>
          <a:p>
            <a:r>
              <a:rPr lang="mr-IN" sz="2400" dirty="0" smtClean="0"/>
              <a:t>…</a:t>
            </a:r>
            <a:endParaRPr lang="en-US" sz="24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204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in modern web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Templating and DOM manipulation</a:t>
            </a:r>
          </a:p>
          <a:p>
            <a:r>
              <a:rPr lang="en-US" dirty="0"/>
              <a:t>UI &amp; </a:t>
            </a:r>
            <a:r>
              <a:rPr lang="en-US" i="1" dirty="0"/>
              <a:t>logic decoupling (architectural patterns)</a:t>
            </a:r>
          </a:p>
          <a:p>
            <a:r>
              <a:rPr lang="en-US" i="1" dirty="0"/>
              <a:t>Code organization (no modules in JS)</a:t>
            </a:r>
          </a:p>
          <a:p>
            <a:r>
              <a:rPr lang="en-US" i="1" dirty="0"/>
              <a:t>Styles organization and preview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85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Templating</a:t>
            </a:r>
            <a:r>
              <a:rPr lang="mr-IN" dirty="0" smtClean="0"/>
              <a:t>…</a:t>
            </a:r>
            <a:r>
              <a:rPr lang="en-US" dirty="0" smtClean="0"/>
              <a:t>jQuery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none">
            <a:noAutofit/>
          </a:bodyPr>
          <a:lstStyle/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root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'#page-list-view-container'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root.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empty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app.pages.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map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i="1" dirty="0">
                <a:solidFill>
                  <a:srgbClr val="FA8419"/>
                </a:solidFill>
                <a:latin typeface="Menlo-Italic" charset="0"/>
              </a:rPr>
              <a:t>page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mr-IN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"&lt;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a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&gt;"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attr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href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"#"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page.isDraft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'draft-page-litem'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'published-page-litem'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'page-level-'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page.level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page.isDraft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page.isNew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'page-new'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'page-draft'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'page-published'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attr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'data-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pageId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page.id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568" dirty="0" err="1">
                <a:solidFill>
                  <a:srgbClr val="27BADD"/>
                </a:solidFill>
                <a:latin typeface="Menlo-Regular" charset="0"/>
              </a:rPr>
              <a:t>append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'&lt;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li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&gt;'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text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page.name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.</a:t>
            </a:r>
            <a:r>
              <a:rPr lang="mr-IN" sz="1568" dirty="0" err="1">
                <a:solidFill>
                  <a:srgbClr val="27BADD"/>
                </a:solidFill>
                <a:latin typeface="Menlo-Regular" charset="0"/>
              </a:rPr>
              <a:t>prepend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'&lt;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span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&gt;'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fa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page.level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==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9D65FF"/>
                </a:solidFill>
                <a:latin typeface="Menlo-Regular" charset="0"/>
              </a:rPr>
              <a:t>0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?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fa-home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: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fa-file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    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    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568" dirty="0" err="1">
                <a:solidFill>
                  <a:srgbClr val="5AA314"/>
                </a:solidFill>
                <a:latin typeface="Menlo-Regular" charset="0"/>
              </a:rPr>
              <a:t>appendTo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root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})</a:t>
            </a:r>
          </a:p>
          <a:p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addClickHandlerToSelectPages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();</a:t>
            </a:r>
          </a:p>
          <a:p>
            <a:endParaRPr lang="en-US" sz="1568" dirty="0">
              <a:latin typeface="Consolas" charset="0"/>
              <a:ea typeface="Consolas" charset="0"/>
              <a:cs typeface="Consola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380" y="2117687"/>
            <a:ext cx="4357621" cy="473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7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Mustache </a:t>
            </a:r>
            <a:r>
              <a:rPr lang="en-US" i="1" dirty="0" smtClean="0"/>
              <a:t>templating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view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mr-IN" sz="1568" dirty="0" err="1">
                <a:solidFill>
                  <a:srgbClr val="000000"/>
                </a:solidFill>
                <a:latin typeface="Menlo-Regular" charset="0"/>
              </a:rPr>
              <a:t>title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568" dirty="0" err="1">
                <a:solidFill>
                  <a:srgbClr val="EC4307"/>
                </a:solidFill>
                <a:latin typeface="Menlo-Regular" charset="0"/>
              </a:rPr>
              <a:t>Joe</a:t>
            </a:r>
            <a:r>
              <a:rPr lang="mr-IN" sz="1568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,</a:t>
            </a:r>
          </a:p>
          <a:p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ro-RO" sz="1568" dirty="0">
                <a:solidFill>
                  <a:srgbClr val="5AA314"/>
                </a:solidFill>
                <a:latin typeface="Menlo-Regular" charset="0"/>
              </a:rPr>
              <a:t>calc</a:t>
            </a:r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ro-RO" sz="1568" i="1" dirty="0" err="1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ro-RO" sz="1568" dirty="0">
                <a:solidFill>
                  <a:srgbClr val="000000"/>
                </a:solidFill>
                <a:latin typeface="Menlo-Regular" charset="0"/>
              </a:rPr>
              <a:t> () {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mr-IN" sz="1568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9D65FF"/>
                </a:solidFill>
                <a:latin typeface="Menlo-Regular" charset="0"/>
              </a:rPr>
              <a:t>2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rgbClr val="9D65FF"/>
                </a:solidFill>
                <a:latin typeface="Menlo-Regular" charset="0"/>
              </a:rPr>
              <a:t>4</a:t>
            </a:r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};</a:t>
            </a: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output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Mustache.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"{{title}} spends {{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calc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}}"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view);</a:t>
            </a:r>
          </a:p>
          <a:p>
            <a:endParaRPr lang="en-US" sz="1568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219" y="3421068"/>
            <a:ext cx="4401781" cy="34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963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 </a:t>
            </a:r>
            <a:r>
              <a:rPr lang="en-US" i="1" dirty="0" smtClean="0"/>
              <a:t>manipulation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none">
            <a:noAutofit/>
          </a:bodyPr>
          <a:lstStyle/>
          <a:p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// </a:t>
            </a:r>
            <a:r>
              <a:rPr lang="en-US" sz="1961" dirty="0" smtClean="0">
                <a:solidFill>
                  <a:srgbClr val="8E8E7C"/>
                </a:solidFill>
                <a:latin typeface="Menlo-Regular" charset="0"/>
              </a:rPr>
              <a:t>add class selected on click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"#page-list-view-container [data-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pageid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="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"]"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        .</a:t>
            </a:r>
            <a:r>
              <a:rPr lang="mr-IN" sz="1961" dirty="0" err="1">
                <a:solidFill>
                  <a:srgbClr val="27BADD"/>
                </a:solidFill>
                <a:latin typeface="Menlo-Regular" charset="0"/>
              </a:rPr>
              <a:t>find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961" dirty="0" err="1">
                <a:solidFill>
                  <a:srgbClr val="EC4307"/>
                </a:solidFill>
                <a:latin typeface="Menlo-Regular" charset="0"/>
              </a:rPr>
              <a:t>li</a:t>
            </a:r>
            <a:r>
              <a:rPr lang="mr-IN" sz="1961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     .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addClass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'selected'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3110" y="1875965"/>
            <a:ext cx="2894291" cy="12672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Finding element with magic strings and concatenation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0971" y="2652483"/>
            <a:ext cx="2399503" cy="6155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Manual update?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0378668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handling?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568" i="1" dirty="0" err="1">
                <a:solidFill>
                  <a:srgbClr val="27BADD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addClickHandlerToSelectPages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()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draftPageItem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getElementsByClassName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'draft-page-litem'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),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publishedPageItem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getElementsByClassName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'published-page-litem'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draftPageItem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).</a:t>
            </a:r>
            <a:r>
              <a:rPr lang="en-US" sz="1568" dirty="0">
                <a:solidFill>
                  <a:srgbClr val="27BADD"/>
                </a:solidFill>
                <a:latin typeface="Menlo-Regular" charset="0"/>
              </a:rPr>
              <a:t>add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publishedPageItem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)).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'click'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i="1" dirty="0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e.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preventDefault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getAttribute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'data-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pageid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history.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pushState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({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: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},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'page 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'?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selectedPage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='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>
                <a:solidFill>
                  <a:srgbClr val="F4005F"/>
                </a:solidFill>
                <a:latin typeface="Menlo-Regular" charset="0"/>
              </a:rPr>
              <a:t>+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rgbClr val="5AA314"/>
                </a:solidFill>
                <a:latin typeface="Menlo-Regular" charset="0"/>
              </a:rPr>
              <a:t>selectPage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   });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/>
          </a:p>
        </p:txBody>
      </p:sp>
    </p:spTree>
    <p:extLst>
      <p:ext uri="{BB962C8B-B14F-4D97-AF65-F5344CB8AC3E}">
        <p14:creationId xmlns:p14="http://schemas.microsoft.com/office/powerpoint/2010/main" val="862561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UI updates?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568" i="1" dirty="0" err="1">
                <a:solidFill>
                  <a:schemeClr val="bg2"/>
                </a:solidFill>
                <a:latin typeface="Menlo-Italic" charset="0"/>
              </a:rPr>
              <a:t>var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addClickHandlerToSelectPages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= </a:t>
            </a:r>
            <a:r>
              <a:rPr lang="en-US" sz="1568" i="1" dirty="0">
                <a:solidFill>
                  <a:schemeClr val="bg2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() {</a:t>
            </a: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draftPageItem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=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getElementsByClassName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'draft-page-litem'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),</a:t>
            </a: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publishedPageItem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=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document.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getElementsByClassName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'published-page-litem'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draftPageItem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).</a:t>
            </a:r>
            <a:r>
              <a:rPr lang="en-US" sz="1568" dirty="0">
                <a:solidFill>
                  <a:srgbClr val="27BADD"/>
                </a:solidFill>
                <a:latin typeface="Menlo-Regular" charset="0"/>
              </a:rPr>
              <a:t>add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$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publishedPageItem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)).</a:t>
            </a:r>
            <a:r>
              <a:rPr lang="en-US" sz="1568" dirty="0">
                <a:solidFill>
                  <a:srgbClr val="5AA314"/>
                </a:solidFill>
                <a:latin typeface="Menlo-Regular" charset="0"/>
              </a:rPr>
              <a:t>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'click'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568" i="1" dirty="0">
                <a:solidFill>
                  <a:srgbClr val="27BADD"/>
                </a:solidFill>
                <a:latin typeface="Menlo-Italic" charset="0"/>
              </a:rPr>
              <a:t>function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(</a:t>
            </a:r>
            <a:r>
              <a:rPr lang="en-US" sz="1568" i="1" dirty="0">
                <a:solidFill>
                  <a:srgbClr val="FA8419"/>
                </a:solidFill>
                <a:latin typeface="Menlo-Italic" charset="0"/>
              </a:rPr>
              <a:t>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 {</a:t>
            </a:r>
          </a:p>
          <a:p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e.preventDefault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();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= </a:t>
            </a:r>
            <a:r>
              <a:rPr lang="en-US" sz="1568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568" dirty="0" err="1">
                <a:solidFill>
                  <a:srgbClr val="27BADD"/>
                </a:solidFill>
                <a:latin typeface="Menlo-Regular" charset="0"/>
              </a:rPr>
              <a:t>getAttribute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'data-</a:t>
            </a:r>
            <a:r>
              <a:rPr lang="en-US" sz="1568" dirty="0" err="1">
                <a:solidFill>
                  <a:srgbClr val="EC4307"/>
                </a:solidFill>
                <a:latin typeface="Menlo-Regular" charset="0"/>
              </a:rPr>
              <a:t>pageid</a:t>
            </a:r>
            <a:r>
              <a:rPr lang="en-US" sz="1568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568" dirty="0">
                <a:solidFill>
                  <a:srgbClr val="000000"/>
                </a:solidFill>
                <a:latin typeface="Menlo-Regular" charset="0"/>
              </a:rPr>
              <a:t>);</a:t>
            </a:r>
          </a:p>
          <a:p>
            <a:endParaRPr lang="en-US" sz="1568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history.pushState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({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: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}, 'page ' +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, '?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=' +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)</a:t>
            </a:r>
          </a:p>
          <a:p>
            <a:endParaRPr lang="en-US" sz="1568" dirty="0">
              <a:solidFill>
                <a:schemeClr val="bg2"/>
              </a:solidFill>
              <a:latin typeface="Menlo-Regular" charset="0"/>
            </a:endParaRPr>
          </a:p>
          <a:p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        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selectPage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(</a:t>
            </a:r>
            <a:r>
              <a:rPr lang="en-US" sz="1568" dirty="0" err="1">
                <a:solidFill>
                  <a:schemeClr val="bg2"/>
                </a:solidFill>
                <a:latin typeface="Menlo-Regular" charset="0"/>
              </a:rPr>
              <a:t>selectedPageId</a:t>
            </a:r>
            <a:r>
              <a:rPr lang="en-US" sz="1568" dirty="0">
                <a:solidFill>
                  <a:schemeClr val="bg2"/>
                </a:solidFill>
                <a:latin typeface="Menlo-Regular" charset="0"/>
              </a:rPr>
              <a:t>)</a:t>
            </a:r>
          </a:p>
          <a:p>
            <a:r>
              <a:rPr lang="mr-IN" sz="1568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568" dirty="0">
                <a:solidFill>
                  <a:schemeClr val="bg2"/>
                </a:solidFill>
                <a:latin typeface="Menlo-Regular" charset="0"/>
              </a:rPr>
              <a:t>   });</a:t>
            </a:r>
          </a:p>
          <a:p>
            <a:r>
              <a:rPr lang="mr-IN" sz="1568" dirty="0">
                <a:solidFill>
                  <a:schemeClr val="bg2"/>
                </a:solidFill>
                <a:latin typeface="Menlo-Regular" charset="0"/>
              </a:rPr>
              <a:t>}</a:t>
            </a:r>
          </a:p>
          <a:p>
            <a:endParaRPr lang="mr-IN" sz="1568" dirty="0">
              <a:solidFill>
                <a:schemeClr val="bg2"/>
              </a:solidFill>
              <a:latin typeface="Menlo-Regular" charset="0"/>
            </a:endParaRPr>
          </a:p>
          <a:p>
            <a:endParaRPr lang="mr-IN" sz="1568" dirty="0">
              <a:solidFill>
                <a:srgbClr val="000000"/>
              </a:solidFill>
              <a:latin typeface="Menlo-Regular" charset="0"/>
            </a:endParaRPr>
          </a:p>
          <a:p>
            <a:endParaRPr lang="en-US" sz="1568" dirty="0"/>
          </a:p>
        </p:txBody>
      </p:sp>
    </p:spTree>
    <p:extLst>
      <p:ext uri="{BB962C8B-B14F-4D97-AF65-F5344CB8AC3E}">
        <p14:creationId xmlns:p14="http://schemas.microsoft.com/office/powerpoint/2010/main" val="15549838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ReactJS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57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/>
              <a:t>ReactJS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all" dirty="0"/>
              <a:t>A JAVASCRIPT LIBRARY FOR BUILDING USER INTERFACES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SPA Framework</a:t>
            </a:r>
          </a:p>
          <a:p>
            <a:r>
              <a:rPr lang="en-US" dirty="0" smtClean="0"/>
              <a:t>Declarative</a:t>
            </a:r>
            <a:endParaRPr lang="en-US" dirty="0"/>
          </a:p>
          <a:p>
            <a:r>
              <a:rPr lang="en-US" dirty="0" smtClean="0"/>
              <a:t>Functional</a:t>
            </a:r>
            <a:endParaRPr lang="en-US" dirty="0"/>
          </a:p>
          <a:p>
            <a:r>
              <a:rPr lang="en-US" dirty="0" smtClean="0"/>
              <a:t>Component oriented</a:t>
            </a:r>
            <a:endParaRPr lang="en-US" dirty="0"/>
          </a:p>
          <a:p>
            <a:r>
              <a:rPr lang="en-US" dirty="0" smtClean="0"/>
              <a:t>"Just a view </a:t>
            </a:r>
            <a:r>
              <a:rPr lang="en-US" dirty="0"/>
              <a:t>layer"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30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269303" y="1187963"/>
            <a:ext cx="11655078" cy="678445"/>
          </a:xfrm>
        </p:spPr>
        <p:txBody>
          <a:bodyPr/>
          <a:lstStyle/>
          <a:p>
            <a:r>
              <a:rPr lang="en-US" sz="2353" dirty="0" err="1">
                <a:ea typeface="Consolas" charset="0"/>
                <a:cs typeface="Consolas" charset="0"/>
              </a:rPr>
              <a:t>Klasa</a:t>
            </a:r>
            <a:r>
              <a:rPr lang="en-US" sz="2353" dirty="0">
                <a:ea typeface="Consolas" charset="0"/>
                <a:cs typeface="Consolas" charset="0"/>
              </a:rPr>
              <a:t>:</a:t>
            </a:r>
            <a:r>
              <a:rPr lang="en-US" dirty="0" smtClean="0">
                <a:latin typeface="+mn-lt"/>
                <a:ea typeface="Consolas" charset="0"/>
                <a:cs typeface="Consolas" charset="0"/>
              </a:rPr>
              <a:t> 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React.Component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8602" y="1866406"/>
            <a:ext cx="4526524" cy="5403918"/>
          </a:xfrm>
          <a:prstGeom prst="rect">
            <a:avLst/>
          </a:prstGeom>
          <a:noFill/>
        </p:spPr>
        <p:txBody>
          <a:bodyPr wrap="non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Metode</a:t>
            </a: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:</a:t>
            </a: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3137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render</a:t>
            </a:r>
            <a:endParaRPr lang="en-US" sz="2353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941" b="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setState</a:t>
            </a:r>
            <a:endParaRPr lang="en-US" sz="2941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2353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componentWillMount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componentWillReceiveProps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componentDidMount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componentWillUnmount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196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shouldComponentUpdate</a:t>
            </a:r>
            <a:endParaRPr lang="en-US" sz="196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196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componentDidUpdate</a:t>
            </a:r>
            <a:endParaRPr lang="en-US" sz="196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196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charset="0"/>
                <a:ea typeface="Consolas" charset="0"/>
                <a:cs typeface="Consolas" charset="0"/>
              </a:rPr>
              <a:t>componentWillUpdate</a:t>
            </a:r>
            <a:endParaRPr lang="en-US" sz="196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196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7548" y="3680168"/>
            <a:ext cx="4816368" cy="1421121"/>
          </a:xfrm>
          <a:prstGeom prst="rect">
            <a:avLst/>
          </a:prstGeom>
          <a:noFill/>
        </p:spPr>
        <p:txBody>
          <a:bodyPr wrap="non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JSX + virtual DOM + </a:t>
            </a: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synthetic events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  <a:p>
            <a:pPr>
              <a:lnSpc>
                <a:spcPct val="90000"/>
              </a:lnSpc>
              <a:spcAft>
                <a:spcPts val="588"/>
              </a:spcAft>
            </a:pPr>
            <a:endParaRPr lang="en-US" sz="2353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5607548" y="4470085"/>
            <a:ext cx="6590148" cy="2409703"/>
          </a:xfrm>
          <a:prstGeom prst="rect">
            <a:avLst/>
          </a:prstGeom>
          <a:solidFill>
            <a:schemeClr val="bg1"/>
          </a:solidFill>
        </p:spPr>
        <p:txBody>
          <a:bodyPr vert="horz" wrap="none" lIns="143428" tIns="89642" rIns="143428" bIns="89642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mr-IN" sz="1961" dirty="0" err="1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pPr marL="0" indent="0">
              <a:buNone/>
            </a:pP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&gt;{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this.props.text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}&lt;/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span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pPr marL="0" indent="0">
              <a:buNone/>
            </a:pP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 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button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5AA314"/>
                </a:solidFill>
                <a:latin typeface="Menlo-Regular" charset="0"/>
              </a:rPr>
              <a:t>onClick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this.props.handleClick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}&gt;</a:t>
            </a:r>
          </a:p>
          <a:p>
            <a:pPr marL="0" indent="0">
              <a:buNone/>
            </a:pP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Click me&lt;/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button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pPr marL="0" indent="0">
              <a:buNone/>
            </a:pP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&lt;/</a:t>
            </a:r>
            <a:r>
              <a:rPr lang="mr-IN" sz="1961" dirty="0" err="1">
                <a:solidFill>
                  <a:srgbClr val="F4005F"/>
                </a:solidFill>
                <a:latin typeface="Menlo-Regular" charset="0"/>
              </a:rPr>
              <a:t>div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pPr marL="0" indent="0">
              <a:buNone/>
            </a:pPr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pPr marL="0" indent="0">
              <a:buNone/>
            </a:pPr>
            <a:endParaRPr lang="en-US" sz="1961" dirty="0">
              <a:solidFill>
                <a:srgbClr val="F8F8F2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66521" y="1812971"/>
            <a:ext cx="4347137" cy="1018318"/>
          </a:xfrm>
          <a:prstGeom prst="rect">
            <a:avLst/>
          </a:prstGeom>
          <a:noFill/>
        </p:spPr>
        <p:txBody>
          <a:bodyPr wrap="non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Properties:</a:t>
            </a:r>
          </a:p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Menlo" charset="0"/>
                <a:ea typeface="Menlo" charset="0"/>
                <a:cs typeface="Menlo" charset="0"/>
              </a:rPr>
              <a:t>state, </a:t>
            </a: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Menlo" charset="0"/>
                <a:ea typeface="Menlo" charset="0"/>
                <a:cs typeface="Menlo" charset="0"/>
              </a:rPr>
              <a:t>props, children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88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component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 wrap="none">
            <a:noAutofit/>
          </a:bodyPr>
          <a:lstStyle/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import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9D65FF"/>
                </a:solidFill>
                <a:latin typeface="Menlo-Regular" charset="0"/>
              </a:rPr>
              <a:t>*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as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React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from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'react'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;</a:t>
            </a: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default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class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Header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extends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React.</a:t>
            </a:r>
            <a:r>
              <a:rPr lang="en-US" sz="1961" i="1" dirty="0" err="1">
                <a:solidFill>
                  <a:srgbClr val="5AA314"/>
                </a:solidFill>
                <a:latin typeface="Menlo-Italic" charset="0"/>
              </a:rPr>
              <a:t>Component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&lt;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en-US" sz="1961" i="1" dirty="0">
                <a:solidFill>
                  <a:srgbClr val="27BADD"/>
                </a:solidFill>
                <a:latin typeface="Menlo-Italic" charset="0"/>
              </a:rPr>
              <a:t>any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&gt; {</a:t>
            </a:r>
          </a:p>
          <a:p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    </a:t>
            </a:r>
            <a:r>
              <a:rPr lang="pl-PL" sz="1961" dirty="0" err="1">
                <a:solidFill>
                  <a:srgbClr val="5AA314"/>
                </a:solidFill>
                <a:latin typeface="Menlo-Regular" charset="0"/>
              </a:rPr>
              <a:t>render</a:t>
            </a:r>
            <a:r>
              <a:rPr lang="pl-PL" sz="1961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    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is-IS" sz="1961" dirty="0" smtClean="0">
                <a:solidFill>
                  <a:srgbClr val="F4005F"/>
                </a:solidFill>
                <a:latin typeface="Menlo-Regular" charset="0"/>
              </a:rPr>
              <a:t>h1</a:t>
            </a:r>
            <a:r>
              <a:rPr lang="is-IS" sz="1961" dirty="0" smtClean="0">
                <a:solidFill>
                  <a:srgbClr val="000000"/>
                </a:solidFill>
                <a:latin typeface="Menlo-Regular" charset="0"/>
              </a:rPr>
              <a:t>&gt;Title goes here&lt;/</a:t>
            </a:r>
            <a:r>
              <a:rPr lang="is-IS" sz="1961" dirty="0">
                <a:solidFill>
                  <a:srgbClr val="F4005F"/>
                </a:solidFill>
                <a:latin typeface="Menlo-Regular" charset="0"/>
              </a:rPr>
              <a:t>h2</a:t>
            </a:r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  <a:p>
            <a:endParaRPr lang="is-IS" sz="1961" dirty="0">
              <a:solidFill>
                <a:srgbClr val="000000"/>
              </a:solidFill>
              <a:latin typeface="Menlo-Regular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72373" y="1081204"/>
            <a:ext cx="5506213" cy="94137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Importing external modules </a:t>
            </a: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(NPM </a:t>
            </a: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ili</a:t>
            </a: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353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lokalno</a:t>
            </a: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37794" y="4027660"/>
            <a:ext cx="847110" cy="6155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232" y="1946558"/>
            <a:ext cx="5153251" cy="6155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79285" tIns="143428" rIns="179285" bIns="143428" rtlCol="0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2353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Export for other modules to see</a:t>
            </a:r>
            <a:endParaRPr lang="en-US" sz="2353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6299749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182" y="3788740"/>
            <a:ext cx="4048819" cy="30366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1" y="2979232"/>
            <a:ext cx="11655840" cy="899537"/>
          </a:xfrm>
        </p:spPr>
        <p:txBody>
          <a:bodyPr/>
          <a:lstStyle/>
          <a:p>
            <a:r>
              <a:rPr lang="en-US" dirty="0" smtClean="0"/>
              <a:t>HTML inside </a:t>
            </a:r>
            <a:r>
              <a:rPr lang="en-US" strike="sngStrike" dirty="0" err="1" smtClean="0"/>
              <a:t>JavaScripta</a:t>
            </a:r>
            <a:r>
              <a:rPr lang="en-US" dirty="0" smtClean="0"/>
              <a:t> ECMAScript?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28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23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378"/>
            <a:ext cx="11922761" cy="1162178"/>
          </a:xfrm>
        </p:spPr>
        <p:txBody>
          <a:bodyPr/>
          <a:lstStyle/>
          <a:p>
            <a:r>
              <a:rPr lang="en-US" smtClean="0">
                <a:latin typeface="Menlo" charset="0"/>
                <a:ea typeface="Menlo" charset="0"/>
                <a:cs typeface="Menlo" charset="0"/>
              </a:rPr>
              <a:t>f(state, props) = view</a:t>
            </a:r>
            <a:endParaRPr lang="en-US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React in a nutshell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2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 </a:t>
            </a:r>
            <a:r>
              <a:rPr lang="en-US" dirty="0" smtClean="0"/>
              <a:t>means SPA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page </a:t>
            </a:r>
            <a:r>
              <a:rPr lang="mr-IN" dirty="0"/>
              <a:t>–</a:t>
            </a:r>
            <a:r>
              <a:rPr lang="en-US" dirty="0"/>
              <a:t> 1 </a:t>
            </a:r>
            <a:r>
              <a:rPr lang="en-US" dirty="0" smtClean="0"/>
              <a:t>or one view </a:t>
            </a:r>
            <a:r>
              <a:rPr lang="en-US" dirty="0" err="1">
                <a:latin typeface="Consolas" charset="0"/>
                <a:ea typeface="Consolas" charset="0"/>
                <a:cs typeface="Consolas" charset="0"/>
              </a:rPr>
              <a:t>index.html</a:t>
            </a:r>
            <a:endParaRPr lang="en-US" dirty="0"/>
          </a:p>
          <a:p>
            <a:r>
              <a:rPr lang="en-US" dirty="0"/>
              <a:t>Routing </a:t>
            </a:r>
            <a:r>
              <a:rPr lang="en-US" dirty="0" smtClean="0"/>
              <a:t>is </a:t>
            </a:r>
            <a:r>
              <a:rPr lang="en-US" i="1" dirty="0" smtClean="0"/>
              <a:t>client-side</a:t>
            </a:r>
            <a:endParaRPr lang="en-US" dirty="0"/>
          </a:p>
          <a:p>
            <a:r>
              <a:rPr lang="en-US" dirty="0"/>
              <a:t>Server side routing </a:t>
            </a:r>
            <a:r>
              <a:rPr lang="en-US" dirty="0" smtClean="0"/>
              <a:t>can be used for heavy lifting</a:t>
            </a:r>
            <a:endParaRPr lang="en-US" dirty="0"/>
          </a:p>
          <a:p>
            <a:r>
              <a:rPr lang="en-US" dirty="0"/>
              <a:t>Server side rendering </a:t>
            </a:r>
            <a:r>
              <a:rPr lang="en-US" dirty="0" smtClean="0"/>
              <a:t>is an option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9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Glossary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.NET Core </a:t>
            </a:r>
            <a:r>
              <a:rPr lang="mr-IN" dirty="0" smtClean="0"/>
              <a:t>–</a:t>
            </a:r>
            <a:r>
              <a:rPr lang="en-US" dirty="0" smtClean="0"/>
              <a:t> platform</a:t>
            </a:r>
          </a:p>
          <a:p>
            <a:r>
              <a:rPr lang="en-US" dirty="0" smtClean="0"/>
              <a:t>ASP.NET Core </a:t>
            </a:r>
            <a:r>
              <a:rPr lang="mr-IN" dirty="0" smtClean="0"/>
              <a:t>–</a:t>
            </a:r>
            <a:r>
              <a:rPr lang="en-US" dirty="0" smtClean="0"/>
              <a:t> framework</a:t>
            </a:r>
          </a:p>
          <a:p>
            <a:r>
              <a:rPr lang="en-US" dirty="0" err="1" smtClean="0"/>
              <a:t>ReactJS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dirty="0" smtClean="0"/>
              <a:t> SPA library</a:t>
            </a:r>
          </a:p>
          <a:p>
            <a:r>
              <a:rPr lang="en-US" dirty="0" err="1" smtClean="0"/>
              <a:t>JavaScriptServices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dirty="0" smtClean="0"/>
              <a:t> handles SPA inside ASP.NET Core/replaces Razor</a:t>
            </a:r>
          </a:p>
          <a:p>
            <a:endParaRPr lang="en-US" dirty="0"/>
          </a:p>
          <a:p>
            <a:r>
              <a:rPr lang="en-US" smtClean="0"/>
              <a:t>Tools: </a:t>
            </a:r>
            <a:r>
              <a:rPr lang="en-US" dirty="0" err="1" smtClean="0"/>
              <a:t>npm</a:t>
            </a:r>
            <a:r>
              <a:rPr lang="en-US" dirty="0" smtClean="0"/>
              <a:t>, </a:t>
            </a:r>
            <a:r>
              <a:rPr lang="en-US" dirty="0" err="1" smtClean="0"/>
              <a:t>webpack</a:t>
            </a:r>
            <a:r>
              <a:rPr lang="en-US" dirty="0" smtClean="0"/>
              <a:t>, </a:t>
            </a:r>
            <a:r>
              <a:rPr lang="en-US" dirty="0" err="1" smtClean="0"/>
              <a:t>nuget</a:t>
            </a:r>
            <a:r>
              <a:rPr lang="en-US" dirty="0" smtClean="0"/>
              <a:t>, </a:t>
            </a:r>
            <a:r>
              <a:rPr lang="en-US" dirty="0" err="1" smtClean="0"/>
              <a:t>dotnet</a:t>
            </a:r>
            <a:r>
              <a:rPr lang="en-US" dirty="0" smtClean="0"/>
              <a:t> CLI</a:t>
            </a:r>
          </a:p>
          <a:p>
            <a:r>
              <a:rPr lang="en-US" dirty="0" smtClean="0"/>
              <a:t>Concepts: Single Page App, client-side routing</a:t>
            </a:r>
          </a:p>
        </p:txBody>
      </p:sp>
    </p:spTree>
    <p:extLst>
      <p:ext uri="{BB962C8B-B14F-4D97-AF65-F5344CB8AC3E}">
        <p14:creationId xmlns:p14="http://schemas.microsoft.com/office/powerpoint/2010/main" val="1957353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JavaScriptServices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node.js</a:t>
            </a:r>
            <a:r>
              <a:rPr lang="en-US" dirty="0"/>
              <a:t> se </a:t>
            </a:r>
            <a:r>
              <a:rPr lang="en-US" dirty="0" smtClean="0"/>
              <a:t>running under ASP.NET Core</a:t>
            </a:r>
            <a:endParaRPr lang="en-US" dirty="0"/>
          </a:p>
          <a:p>
            <a:r>
              <a:rPr lang="en-US" dirty="0" err="1"/>
              <a:t>webpack</a:t>
            </a:r>
            <a:r>
              <a:rPr lang="en-US" dirty="0"/>
              <a:t> </a:t>
            </a:r>
            <a:r>
              <a:rPr lang="en-US" dirty="0" smtClean="0"/>
              <a:t>used for bundling</a:t>
            </a:r>
            <a:endParaRPr lang="en-US" dirty="0"/>
          </a:p>
          <a:p>
            <a:r>
              <a:rPr lang="en-US" dirty="0"/>
              <a:t>Hot Module Reload (HMR)</a:t>
            </a:r>
          </a:p>
          <a:p>
            <a:r>
              <a:rPr lang="en-US" dirty="0"/>
              <a:t>Typescript </a:t>
            </a:r>
            <a:r>
              <a:rPr lang="mr-IN" dirty="0" smtClean="0"/>
              <a:t>–</a:t>
            </a:r>
            <a:r>
              <a:rPr lang="en-US" dirty="0" smtClean="0"/>
              <a:t> optional types for JavaScript</a:t>
            </a:r>
            <a:endParaRPr lang="en-US" dirty="0"/>
          </a:p>
          <a:p>
            <a:endParaRPr lang="en-US" dirty="0" smtClean="0"/>
          </a:p>
          <a:p>
            <a:r>
              <a:rPr lang="en-US" dirty="0">
                <a:latin typeface="Consolas" charset="0"/>
                <a:ea typeface="Consolas" charset="0"/>
                <a:cs typeface="Consolas" charset="0"/>
              </a:rPr>
              <a:t>https://</a:t>
            </a:r>
            <a:r>
              <a:rPr lang="en-US" dirty="0" err="1">
                <a:latin typeface="Consolas" charset="0"/>
                <a:ea typeface="Consolas" charset="0"/>
                <a:cs typeface="Consolas" charset="0"/>
              </a:rPr>
              <a:t>github.com</a:t>
            </a:r>
            <a:r>
              <a:rPr lang="en-US" dirty="0">
                <a:latin typeface="Consolas" charset="0"/>
                <a:ea typeface="Consolas" charset="0"/>
                <a:cs typeface="Consolas" charset="0"/>
              </a:rPr>
              <a:t>/</a:t>
            </a:r>
            <a:r>
              <a:rPr lang="en-US" dirty="0" err="1">
                <a:latin typeface="Consolas" charset="0"/>
                <a:ea typeface="Consolas" charset="0"/>
                <a:cs typeface="Consolas" charset="0"/>
              </a:rPr>
              <a:t>aspnet</a:t>
            </a:r>
            <a:r>
              <a:rPr lang="en-US" dirty="0">
                <a:latin typeface="Consolas" charset="0"/>
                <a:ea typeface="Consolas" charset="0"/>
                <a:cs typeface="Consolas" charset="0"/>
              </a:rPr>
              <a:t>/</a:t>
            </a:r>
            <a:r>
              <a:rPr lang="en-US" dirty="0" err="1">
                <a:latin typeface="Consolas" charset="0"/>
                <a:ea typeface="Consolas" charset="0"/>
                <a:cs typeface="Consolas" charset="0"/>
              </a:rPr>
              <a:t>javascriptservices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100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side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30" y="1825625"/>
            <a:ext cx="69621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86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Good start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dotnet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new react</a:t>
            </a:r>
          </a:p>
          <a:p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npm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install</a:t>
            </a:r>
          </a:p>
          <a:p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dotnet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 run</a:t>
            </a:r>
          </a:p>
          <a:p>
            <a:endParaRPr lang="en-US" dirty="0"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en-US" dirty="0" err="1" smtClean="0">
                <a:latin typeface="Consolas" charset="0"/>
                <a:ea typeface="Consolas" charset="0"/>
                <a:cs typeface="Consolas" charset="0"/>
              </a:rPr>
              <a:t>env:ASPNETCORE_ENVIRONMENT</a:t>
            </a:r>
            <a:r>
              <a:rPr lang="en-US" dirty="0" smtClean="0">
                <a:latin typeface="Consolas" charset="0"/>
                <a:ea typeface="Consolas" charset="0"/>
                <a:cs typeface="Consolas" charset="0"/>
              </a:rPr>
              <a:t>="Development"</a:t>
            </a:r>
            <a:endParaRPr lang="en-US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509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Dotnet</a:t>
            </a:r>
            <a:r>
              <a:rPr lang="en-US" dirty="0" smtClean="0"/>
              <a:t> watch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Menlo" charset="0"/>
              </a:rPr>
              <a:t>&lt;</a:t>
            </a:r>
            <a:r>
              <a:rPr lang="en-US" dirty="0" err="1">
                <a:solidFill>
                  <a:srgbClr val="F92672"/>
                </a:solidFill>
                <a:latin typeface="Menlo" charset="0"/>
              </a:rPr>
              <a:t>DotNetCliToolReference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 </a:t>
            </a:r>
            <a:r>
              <a:rPr lang="en-US" dirty="0">
                <a:solidFill>
                  <a:srgbClr val="6AAF19"/>
                </a:solidFill>
                <a:latin typeface="Menlo" charset="0"/>
              </a:rPr>
              <a:t>Include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=</a:t>
            </a:r>
            <a:r>
              <a:rPr lang="en-US" dirty="0">
                <a:solidFill>
                  <a:srgbClr val="F25A00"/>
                </a:solidFill>
                <a:latin typeface="Menlo" charset="0"/>
              </a:rPr>
              <a:t>"</a:t>
            </a:r>
            <a:r>
              <a:rPr lang="en-US" dirty="0" err="1">
                <a:solidFill>
                  <a:srgbClr val="F25A00"/>
                </a:solidFill>
                <a:latin typeface="Menlo" charset="0"/>
              </a:rPr>
              <a:t>Microsoft.DotNet.Watcher.Tools</a:t>
            </a:r>
            <a:r>
              <a:rPr lang="en-US" dirty="0">
                <a:solidFill>
                  <a:srgbClr val="F25A00"/>
                </a:solidFill>
                <a:latin typeface="Menlo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 </a:t>
            </a:r>
            <a:r>
              <a:rPr lang="en-US" dirty="0">
                <a:solidFill>
                  <a:srgbClr val="6AAF19"/>
                </a:solidFill>
                <a:latin typeface="Menlo" charset="0"/>
              </a:rPr>
              <a:t>Version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=</a:t>
            </a:r>
            <a:r>
              <a:rPr lang="en-US" dirty="0">
                <a:solidFill>
                  <a:srgbClr val="F25A00"/>
                </a:solidFill>
                <a:latin typeface="Menlo" charset="0"/>
              </a:rPr>
              <a:t>"2.0.0"</a:t>
            </a:r>
            <a:r>
              <a:rPr lang="en-US" dirty="0">
                <a:solidFill>
                  <a:srgbClr val="000000"/>
                </a:solidFill>
                <a:latin typeface="Menlo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Menlo" charset="0"/>
              </a:rPr>
              <a:t>/&gt;</a:t>
            </a:r>
          </a:p>
          <a:p>
            <a:endParaRPr lang="en-US" dirty="0">
              <a:solidFill>
                <a:srgbClr val="000000"/>
              </a:solidFill>
              <a:latin typeface="Menlo" charset="0"/>
            </a:endParaRPr>
          </a:p>
          <a:p>
            <a:endParaRPr lang="en-US" dirty="0" smtClean="0">
              <a:solidFill>
                <a:srgbClr val="000000"/>
              </a:solidFill>
              <a:latin typeface="Menlo" charset="0"/>
            </a:endParaRPr>
          </a:p>
          <a:p>
            <a:r>
              <a:rPr lang="en-US" dirty="0" err="1" smtClean="0">
                <a:solidFill>
                  <a:srgbClr val="000000"/>
                </a:solidFill>
                <a:latin typeface="Menlo" charset="0"/>
              </a:rPr>
              <a:t>dotnet</a:t>
            </a:r>
            <a:r>
              <a:rPr lang="en-US" dirty="0" smtClean="0">
                <a:solidFill>
                  <a:srgbClr val="000000"/>
                </a:solidFill>
                <a:latin typeface="Menlo" charset="0"/>
              </a:rPr>
              <a:t> watch run</a:t>
            </a:r>
            <a:endParaRPr lang="en-US" dirty="0">
              <a:solidFill>
                <a:srgbClr val="000000"/>
              </a:solidFill>
              <a:latin typeface="Menlo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7067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Controller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[</a:t>
            </a:r>
            <a:r>
              <a:rPr lang="en-US" sz="1800" i="1" dirty="0">
                <a:solidFill>
                  <a:srgbClr val="27BADD"/>
                </a:solidFill>
                <a:latin typeface="Menlo-Italic" charset="0"/>
              </a:rPr>
              <a:t>Route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800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en-US" sz="1800" dirty="0" err="1">
                <a:solidFill>
                  <a:srgbClr val="EC4307"/>
                </a:solidFill>
                <a:latin typeface="Menlo-Regular" charset="0"/>
              </a:rPr>
              <a:t>api</a:t>
            </a:r>
            <a:r>
              <a:rPr lang="en-US" sz="1800" dirty="0">
                <a:solidFill>
                  <a:srgbClr val="EC4307"/>
                </a:solidFill>
                <a:latin typeface="Menlo-Regular" charset="0"/>
              </a:rPr>
              <a:t>/[Controller]"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)]</a:t>
            </a:r>
          </a:p>
          <a:p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-Regular" charset="0"/>
              </a:rPr>
              <a:t>ListController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: </a:t>
            </a:r>
            <a:r>
              <a:rPr lang="en-US" sz="1800" i="1" dirty="0">
                <a:solidFill>
                  <a:srgbClr val="27BADD"/>
                </a:solidFill>
                <a:latin typeface="Menlo-Italic" charset="0"/>
              </a:rPr>
              <a:t>Controller</a:t>
            </a:r>
            <a:endParaRPr lang="en-US" sz="1800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  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i="1" dirty="0" err="1">
                <a:solidFill>
                  <a:srgbClr val="27BADD"/>
                </a:solidFill>
                <a:latin typeface="Menlo-Italic" charset="0"/>
              </a:rPr>
              <a:t>IActionResult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5AA314"/>
                </a:solidFill>
                <a:latin typeface="Menlo-Regular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()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{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    </a:t>
            </a:r>
            <a:r>
              <a:rPr lang="mr-IN" sz="1800" dirty="0" err="1">
                <a:solidFill>
                  <a:srgbClr val="F4005F"/>
                </a:solidFill>
                <a:latin typeface="Menlo-Regular" charset="0"/>
              </a:rPr>
              <a:t>return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sz="1800" dirty="0" err="1">
                <a:solidFill>
                  <a:srgbClr val="5AA314"/>
                </a:solidFill>
                <a:latin typeface="Menlo-Regular" charset="0"/>
              </a:rPr>
              <a:t>Ok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mr-IN" sz="1800" dirty="0" err="1">
                <a:solidFill>
                  <a:srgbClr val="F4005F"/>
                </a:solidFill>
                <a:latin typeface="Menlo-Regular" charset="0"/>
              </a:rPr>
              <a:t>new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[]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    {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        </a:t>
            </a:r>
            <a:r>
              <a:rPr lang="mr-IN" sz="1800" dirty="0" err="1">
                <a:solidFill>
                  <a:srgbClr val="F4005F"/>
                </a:solidFill>
                <a:latin typeface="Menlo-Regular" charset="0"/>
              </a:rPr>
              <a:t>new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{</a:t>
            </a:r>
            <a:r>
              <a:rPr lang="mr-IN" sz="1800" dirty="0" err="1">
                <a:solidFill>
                  <a:srgbClr val="000000"/>
                </a:solidFill>
                <a:latin typeface="Menlo-Regular" charset="0"/>
              </a:rPr>
              <a:t>id</a:t>
            </a:r>
            <a:r>
              <a:rPr lang="mr-IN" sz="18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800" dirty="0">
                <a:solidFill>
                  <a:srgbClr val="9D65FF"/>
                </a:solidFill>
                <a:latin typeface="Menlo-Regular" charset="0"/>
              </a:rPr>
              <a:t>1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, </a:t>
            </a:r>
            <a:r>
              <a:rPr lang="mr-IN" sz="1800" dirty="0" err="1">
                <a:solidFill>
                  <a:srgbClr val="000000"/>
                </a:solidFill>
                <a:latin typeface="Menlo-Regular" charset="0"/>
              </a:rPr>
              <a:t>name</a:t>
            </a:r>
            <a:r>
              <a:rPr lang="mr-IN" sz="18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mr-IN" sz="1800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800" dirty="0" err="1">
                <a:solidFill>
                  <a:srgbClr val="EC4307"/>
                </a:solidFill>
                <a:latin typeface="Menlo-Regular" charset="0"/>
              </a:rPr>
              <a:t>john</a:t>
            </a:r>
            <a:r>
              <a:rPr lang="mr-IN" sz="1800" dirty="0">
                <a:solidFill>
                  <a:srgbClr val="EC4307"/>
                </a:solidFill>
                <a:latin typeface="Menlo-Regular" charset="0"/>
              </a:rPr>
              <a:t>"</a:t>
            </a:r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    });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    }</a:t>
            </a:r>
          </a:p>
          <a:p>
            <a:r>
              <a:rPr lang="mr-IN" sz="1800" dirty="0">
                <a:solidFill>
                  <a:srgbClr val="000000"/>
                </a:solidFill>
                <a:latin typeface="Menlo-Regular" charset="0"/>
              </a:rPr>
              <a:t>}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5025139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componentDidMount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() </a:t>
            </a:r>
            <a:r>
              <a:rPr lang="en-US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{</a:t>
            </a:r>
            <a:endParaRPr lang="en-US" sz="1800" dirty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1800" dirty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800" dirty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"/</a:t>
            </a:r>
            <a:r>
              <a:rPr lang="en-US" sz="1800" dirty="0" err="1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api</a:t>
            </a:r>
            <a:r>
              <a:rPr lang="en-US" sz="1800" dirty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/list"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.</a:t>
            </a:r>
            <a:r>
              <a:rPr lang="mr-IN" sz="18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then</a:t>
            </a:r>
            <a:r>
              <a:rPr lang="mr-IN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mr-IN" sz="1800" i="1" dirty="0" err="1" smtClean="0">
                <a:solidFill>
                  <a:srgbClr val="FA8419"/>
                </a:solidFill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sz="1800" i="1" dirty="0">
                <a:solidFill>
                  <a:srgbClr val="27BADD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sz="18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r.</a:t>
            </a:r>
            <a:r>
              <a:rPr lang="mr-IN" sz="1800" dirty="0" err="1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json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() </a:t>
            </a:r>
            <a:r>
              <a:rPr lang="mr-IN" sz="1800" dirty="0" err="1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as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sz="18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Promise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&lt;</a:t>
            </a:r>
            <a:r>
              <a:rPr lang="mr-IN" sz="18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Item</a:t>
            </a:r>
            <a:r>
              <a:rPr lang="mr-IN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[]&gt;)</a:t>
            </a:r>
          </a:p>
          <a:p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</a:t>
            </a:r>
            <a:r>
              <a:rPr lang="en-US" sz="18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.</a:t>
            </a:r>
            <a:r>
              <a:rPr lang="en-US" sz="1800" dirty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800" i="1" dirty="0">
                <a:solidFill>
                  <a:srgbClr val="FA8419"/>
                </a:solidFill>
                <a:latin typeface="Menlo" charset="0"/>
                <a:ea typeface="Menlo" charset="0"/>
                <a:cs typeface="Menlo" charset="0"/>
              </a:rPr>
              <a:t>items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800" i="1" dirty="0">
                <a:solidFill>
                  <a:srgbClr val="27BADD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this.</a:t>
            </a:r>
            <a:r>
              <a:rPr lang="en-US" sz="1800" dirty="0" err="1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setState</a:t>
            </a:r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({ items: items }))</a:t>
            </a:r>
          </a:p>
          <a:p>
            <a:r>
              <a:rPr lang="en-US" sz="1800" dirty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}</a:t>
            </a:r>
          </a:p>
          <a:p>
            <a:endParaRPr lang="en-US" sz="1800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79399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solidFill>
                  <a:srgbClr val="F4005F"/>
                </a:solidFill>
                <a:latin typeface="Menlo-Regular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 err="1">
                <a:solidFill>
                  <a:srgbClr val="5AA314"/>
                </a:solidFill>
                <a:latin typeface="Menlo-Regular" charset="0"/>
              </a:rPr>
              <a:t>componentDidMount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() {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 </a:t>
            </a:r>
            <a:r>
              <a:rPr lang="en-US" sz="1800" i="1" dirty="0">
                <a:solidFill>
                  <a:srgbClr val="27BADD"/>
                </a:solidFill>
                <a:latin typeface="Menlo-Italic" charset="0"/>
              </a:rPr>
              <a:t>let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response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5AA314"/>
                </a:solidFill>
                <a:latin typeface="Menlo-Regular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sz="1800" dirty="0">
                <a:solidFill>
                  <a:srgbClr val="EC4307"/>
                </a:solidFill>
                <a:latin typeface="Menlo-Regular" charset="0"/>
              </a:rPr>
              <a:t>"/</a:t>
            </a:r>
            <a:r>
              <a:rPr lang="en-US" sz="1800" dirty="0" err="1">
                <a:solidFill>
                  <a:srgbClr val="EC4307"/>
                </a:solidFill>
                <a:latin typeface="Menlo-Regular" charset="0"/>
              </a:rPr>
              <a:t>api</a:t>
            </a:r>
            <a:r>
              <a:rPr lang="en-US" sz="1800" dirty="0">
                <a:solidFill>
                  <a:srgbClr val="EC4307"/>
                </a:solidFill>
                <a:latin typeface="Menlo-Regular" charset="0"/>
              </a:rPr>
              <a:t>/list"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 </a:t>
            </a:r>
            <a:r>
              <a:rPr lang="en-US" sz="1800" i="1" dirty="0">
                <a:solidFill>
                  <a:srgbClr val="27BADD"/>
                </a:solidFill>
                <a:latin typeface="Menlo-Italic" charset="0"/>
              </a:rPr>
              <a:t>let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data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>
                <a:solidFill>
                  <a:srgbClr val="F4005F"/>
                </a:solidFill>
                <a:latin typeface="Menlo-Regular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-Regular" charset="0"/>
              </a:rPr>
              <a:t>response.</a:t>
            </a:r>
            <a:r>
              <a:rPr lang="en-US" sz="1800" dirty="0" err="1">
                <a:solidFill>
                  <a:srgbClr val="5AA314"/>
                </a:solidFill>
                <a:latin typeface="Menlo-Regular" charset="0"/>
              </a:rPr>
              <a:t>json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Menlo-Regular" charset="0"/>
              </a:rPr>
              <a:t>this.</a:t>
            </a:r>
            <a:r>
              <a:rPr lang="en-US" sz="1800" dirty="0" err="1">
                <a:solidFill>
                  <a:srgbClr val="5AA314"/>
                </a:solidFill>
                <a:latin typeface="Menlo-Regular" charset="0"/>
              </a:rPr>
              <a:t>setState</a:t>
            </a:r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({ items: data })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748233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Swashbuckle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dotnet</a:t>
            </a:r>
            <a:r>
              <a:rPr lang="en-US" dirty="0"/>
              <a:t> add package </a:t>
            </a:r>
            <a:r>
              <a:rPr lang="en-US" dirty="0" err="1"/>
              <a:t>Swashbuckle.AspNetCore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27027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Routing! </a:t>
            </a:r>
            <a:r>
              <a:rPr lang="en-US" dirty="0" smtClean="0">
                <a:latin typeface="Menlo" charset="0"/>
                <a:ea typeface="Menlo" charset="0"/>
                <a:cs typeface="Menlo" charset="0"/>
              </a:rPr>
              <a:t>react-router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export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default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{Layout}&gt;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Home }} /&gt;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'/counter'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Counter }} /&gt;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fetchdata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FetchData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}}&gt;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'(: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startDateIndex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)'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/&gt; {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   </a:t>
            </a:r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/* Optional route segment that does not affect </a:t>
            </a:r>
            <a:r>
              <a:rPr lang="en-US" sz="1961" dirty="0" err="1">
                <a:solidFill>
                  <a:srgbClr val="8E8E7C"/>
                </a:solidFill>
                <a:latin typeface="Menlo-Regular" charset="0"/>
              </a:rPr>
              <a:t>NavMenu</a:t>
            </a:r>
            <a:r>
              <a:rPr lang="en-US" sz="1961" dirty="0">
                <a:solidFill>
                  <a:srgbClr val="8E8E7C"/>
                </a:solidFill>
                <a:latin typeface="Menlo-Regular" charset="0"/>
              </a:rPr>
              <a:t> highlighting */</a:t>
            </a:r>
            <a:endParaRPr lang="en-US" sz="1961" dirty="0">
              <a:solidFill>
                <a:srgbClr val="000000"/>
              </a:solidFill>
              <a:latin typeface="Menlo-Regular" charset="0"/>
            </a:endParaRPr>
          </a:p>
          <a:p>
            <a:r>
              <a:rPr lang="is-IS" sz="1961" dirty="0">
                <a:solidFill>
                  <a:srgbClr val="000000"/>
                </a:solidFill>
                <a:latin typeface="Menlo-Regular" charset="0"/>
              </a:rPr>
              <a:t>    }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    &lt;/</a:t>
            </a:r>
            <a:r>
              <a:rPr lang="mr-IN" sz="1961" dirty="0" err="1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'/sample'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Sample }} /&gt;</a:t>
            </a:r>
          </a:p>
          <a:p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    &lt;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path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'/</a:t>
            </a:r>
            <a:r>
              <a:rPr lang="en-US" sz="1961" dirty="0" err="1">
                <a:solidFill>
                  <a:srgbClr val="EC4307"/>
                </a:solidFill>
                <a:latin typeface="Menlo-Regular" charset="0"/>
              </a:rPr>
              <a:t>sampleredux</a:t>
            </a:r>
            <a:r>
              <a:rPr lang="en-US" sz="1961" dirty="0">
                <a:solidFill>
                  <a:srgbClr val="EC4307"/>
                </a:solidFill>
                <a:latin typeface="Menlo-Regular" charset="0"/>
              </a:rPr>
              <a:t>'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sz="1961" dirty="0">
                <a:solidFill>
                  <a:srgbClr val="5AA314"/>
                </a:solidFill>
                <a:latin typeface="Menlo-Regular" charset="0"/>
              </a:rPr>
              <a:t>components</a:t>
            </a:r>
            <a:r>
              <a:rPr lang="en-US" sz="1961" dirty="0">
                <a:solidFill>
                  <a:srgbClr val="F4005F"/>
                </a:solidFill>
                <a:latin typeface="Menlo-Regular" charset="0"/>
              </a:rPr>
              <a:t>=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{{ body: </a:t>
            </a:r>
            <a:r>
              <a:rPr lang="en-US" sz="1961" dirty="0" err="1">
                <a:solidFill>
                  <a:srgbClr val="000000"/>
                </a:solidFill>
                <a:latin typeface="Menlo-Regular" charset="0"/>
              </a:rPr>
              <a:t>SampleRedux</a:t>
            </a:r>
            <a:r>
              <a:rPr lang="en-US" sz="1961" dirty="0">
                <a:solidFill>
                  <a:srgbClr val="000000"/>
                </a:solidFill>
                <a:latin typeface="Menlo-Regular" charset="0"/>
              </a:rPr>
              <a:t> }} /&gt;</a:t>
            </a:r>
          </a:p>
          <a:p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&lt;/</a:t>
            </a:r>
            <a:r>
              <a:rPr lang="mr-IN" sz="1961" dirty="0" err="1">
                <a:solidFill>
                  <a:srgbClr val="F4005F"/>
                </a:solidFill>
                <a:latin typeface="Menlo-Regular" charset="0"/>
              </a:rPr>
              <a:t>Route</a:t>
            </a:r>
            <a:r>
              <a:rPr lang="mr-IN" sz="1961" dirty="0">
                <a:solidFill>
                  <a:srgbClr val="000000"/>
                </a:solidFill>
                <a:latin typeface="Menlo-Regular" charset="0"/>
              </a:rPr>
              <a:t>&gt;;</a:t>
            </a: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mr-IN" sz="1961" dirty="0">
              <a:solidFill>
                <a:srgbClr val="000000"/>
              </a:solidFill>
              <a:latin typeface="Menlo-Regular" charset="0"/>
            </a:endParaRPr>
          </a:p>
          <a:p>
            <a:endParaRPr lang="en-US" sz="1961" dirty="0"/>
          </a:p>
        </p:txBody>
      </p:sp>
    </p:spTree>
    <p:extLst>
      <p:ext uri="{BB962C8B-B14F-4D97-AF65-F5344CB8AC3E}">
        <p14:creationId xmlns:p14="http://schemas.microsoft.com/office/powerpoint/2010/main" val="11069757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app.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UseMvc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(routes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endParaRPr lang="en-US" sz="1600" dirty="0" smtClean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{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routes.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MapRoute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</a:t>
            </a:r>
            <a:r>
              <a:rPr lang="mr-IN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mr-IN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mr-IN" sz="1600" dirty="0" err="1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default</a:t>
            </a:r>
            <a:r>
              <a:rPr lang="mr-IN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template: 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"{controller=Home}/{action=Index}/{id?}"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);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});</a:t>
            </a:r>
          </a:p>
          <a:p>
            <a:r>
              <a:rPr lang="en-US" sz="1600" dirty="0" smtClean="0">
                <a:solidFill>
                  <a:srgbClr val="8E8E7C"/>
                </a:solidFill>
                <a:latin typeface="Menlo" charset="0"/>
                <a:ea typeface="Menlo" charset="0"/>
                <a:cs typeface="Menlo" charset="0"/>
              </a:rPr>
              <a:t>// here you can see we make sure it doesn't start with /</a:t>
            </a:r>
            <a:r>
              <a:rPr lang="en-US" sz="1600" dirty="0" err="1" smtClean="0">
                <a:solidFill>
                  <a:srgbClr val="8E8E7C"/>
                </a:solidFill>
                <a:latin typeface="Menlo" charset="0"/>
                <a:ea typeface="Menlo" charset="0"/>
                <a:cs typeface="Menlo" charset="0"/>
              </a:rPr>
              <a:t>api</a:t>
            </a:r>
            <a:r>
              <a:rPr lang="en-US" sz="1600" dirty="0" smtClean="0">
                <a:solidFill>
                  <a:srgbClr val="8E8E7C"/>
                </a:solidFill>
                <a:latin typeface="Menlo" charset="0"/>
                <a:ea typeface="Menlo" charset="0"/>
                <a:cs typeface="Menlo" charset="0"/>
              </a:rPr>
              <a:t>, if it does, it'll 404 within .NET if it can't be found</a:t>
            </a:r>
            <a:endParaRPr lang="en-US" sz="1600" dirty="0" smtClean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app.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MapWhen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(x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!</a:t>
            </a:r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x.Request.Path.Value.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StartsWith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"/</a:t>
            </a:r>
            <a:r>
              <a:rPr lang="en-US" sz="1600" dirty="0" err="1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api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), builder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endParaRPr lang="en-US" sz="1600" dirty="0" smtClean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{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</a:t>
            </a:r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builder.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UseMvc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(routes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=&gt;</a:t>
            </a:r>
            <a:endParaRPr lang="en-US" sz="1600" dirty="0" smtClean="0">
              <a:solidFill>
                <a:srgbClr val="000000"/>
              </a:solidFill>
              <a:latin typeface="Menlo" charset="0"/>
              <a:ea typeface="Menlo" charset="0"/>
              <a:cs typeface="Menlo" charset="0"/>
            </a:endParaRP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{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routes.</a:t>
            </a:r>
            <a:r>
              <a:rPr lang="en-US" sz="1600" dirty="0" err="1" smtClean="0">
                <a:solidFill>
                  <a:srgbClr val="5AA314"/>
                </a:solidFill>
                <a:latin typeface="Menlo" charset="0"/>
                <a:ea typeface="Menlo" charset="0"/>
                <a:cs typeface="Menlo" charset="0"/>
              </a:rPr>
              <a:t>MapSpaFallbackRoute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(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    </a:t>
            </a:r>
            <a:r>
              <a:rPr lang="mr-IN" sz="1600" dirty="0" err="1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name</a:t>
            </a:r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mr-IN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mr-IN" sz="1600" dirty="0" err="1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spa-fallback</a:t>
            </a:r>
            <a:r>
              <a:rPr lang="mr-IN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</a:t>
            </a:r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        defaults: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new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{ controller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"Home"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, action </a:t>
            </a:r>
            <a:r>
              <a:rPr lang="en-US" sz="1600" dirty="0" smtClean="0">
                <a:solidFill>
                  <a:srgbClr val="F4005F"/>
                </a:solidFill>
                <a:latin typeface="Menlo" charset="0"/>
                <a:ea typeface="Menlo" charset="0"/>
                <a:cs typeface="Menlo" charset="0"/>
              </a:rPr>
              <a:t>=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600" dirty="0" smtClean="0">
                <a:solidFill>
                  <a:srgbClr val="EC4307"/>
                </a:solidFill>
                <a:latin typeface="Menlo" charset="0"/>
                <a:ea typeface="Menlo" charset="0"/>
                <a:cs typeface="Menlo" charset="0"/>
              </a:rPr>
              <a:t>"Index"</a:t>
            </a:r>
            <a:r>
              <a:rPr lang="en-US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});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    });</a:t>
            </a:r>
          </a:p>
          <a:p>
            <a:r>
              <a:rPr lang="mr-IN" sz="1600" dirty="0" smtClean="0">
                <a:solidFill>
                  <a:srgbClr val="000000"/>
                </a:solidFill>
                <a:latin typeface="Menlo" charset="0"/>
                <a:ea typeface="Menlo" charset="0"/>
                <a:cs typeface="Menlo" charset="0"/>
              </a:rPr>
              <a:t>});</a:t>
            </a:r>
          </a:p>
          <a:p>
            <a:endParaRPr lang="en-US" sz="1600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08854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EntityFrameworkCore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dotnet</a:t>
            </a:r>
            <a:r>
              <a:rPr lang="en-US" dirty="0"/>
              <a:t> add package </a:t>
            </a:r>
            <a:r>
              <a:rPr lang="en-US" dirty="0" err="1"/>
              <a:t>Microsoft.EntityFrameworkCore.SqlServer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128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Code splitting &amp; Tree shaking</a:t>
            </a:r>
          </a:p>
          <a:p>
            <a:r>
              <a:rPr lang="en-US" dirty="0" smtClean="0"/>
              <a:t>Using external libraries</a:t>
            </a:r>
          </a:p>
          <a:p>
            <a:r>
              <a:rPr lang="en-US" dirty="0" smtClean="0"/>
              <a:t>Advanced routing</a:t>
            </a:r>
          </a:p>
          <a:p>
            <a:r>
              <a:rPr lang="en-US" dirty="0" smtClean="0"/>
              <a:t>Advanced state management</a:t>
            </a:r>
          </a:p>
          <a:p>
            <a:r>
              <a:rPr lang="en-US" dirty="0" smtClean="0"/>
              <a:t>Server </a:t>
            </a:r>
            <a:r>
              <a:rPr lang="en-US" smtClean="0"/>
              <a:t>Side Rendering</a:t>
            </a:r>
          </a:p>
        </p:txBody>
      </p:sp>
    </p:spTree>
    <p:extLst>
      <p:ext uri="{BB962C8B-B14F-4D97-AF65-F5344CB8AC3E}">
        <p14:creationId xmlns:p14="http://schemas.microsoft.com/office/powerpoint/2010/main" val="1630855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 txBox="1">
            <a:spLocks/>
          </p:cNvSpPr>
          <p:nvPr/>
        </p:nvSpPr>
        <p:spPr>
          <a:xfrm>
            <a:off x="267683" y="4335479"/>
            <a:ext cx="4840694" cy="717148"/>
          </a:xfrm>
          <a:prstGeom prst="rect">
            <a:avLst/>
          </a:prstGeom>
        </p:spPr>
        <p:txBody>
          <a:bodyPr/>
          <a:lstStyle>
            <a:lvl1pPr marL="2286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572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858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144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430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529" dirty="0"/>
              <a:t>Toni Petrina</a:t>
            </a:r>
          </a:p>
          <a:p>
            <a:pPr marL="0" indent="0">
              <a:buNone/>
            </a:pPr>
            <a:r>
              <a:rPr lang="en-US" sz="3529" dirty="0"/>
              <a:t>Massive Pixel </a:t>
            </a:r>
            <a:r>
              <a:rPr lang="en-US" sz="3529" dirty="0" err="1"/>
              <a:t>d.o.o</a:t>
            </a:r>
            <a:r>
              <a:rPr lang="en-US" sz="3529" dirty="0"/>
              <a:t>.</a:t>
            </a:r>
          </a:p>
          <a:p>
            <a:pPr marL="0" indent="0">
              <a:buNone/>
            </a:pPr>
            <a:r>
              <a:rPr lang="en-US" sz="3529" dirty="0"/>
              <a:t>@</a:t>
            </a:r>
            <a:r>
              <a:rPr lang="en-US" sz="3529" dirty="0" err="1"/>
              <a:t>to_pe</a:t>
            </a:r>
            <a:endParaRPr lang="en-US" sz="3529" dirty="0"/>
          </a:p>
          <a:p>
            <a:pPr marL="0" indent="0">
              <a:buNone/>
            </a:pPr>
            <a:r>
              <a:rPr lang="en-US" sz="3529" dirty="0" err="1"/>
              <a:t>toni@massivepixel.co</a:t>
            </a:r>
            <a:endParaRPr lang="en-US" sz="3529" dirty="0"/>
          </a:p>
        </p:txBody>
      </p:sp>
      <p:sp>
        <p:nvSpPr>
          <p:cNvPr id="2" name="TextBox 1"/>
          <p:cNvSpPr txBox="1"/>
          <p:nvPr/>
        </p:nvSpPr>
        <p:spPr>
          <a:xfrm>
            <a:off x="516367" y="656216"/>
            <a:ext cx="612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tpetrina.gitbooks.io</a:t>
            </a:r>
            <a:r>
              <a:rPr lang="en-US" dirty="0"/>
              <a:t>/react-</a:t>
            </a:r>
            <a:r>
              <a:rPr lang="en-US" dirty="0" err="1"/>
              <a:t>aspnetcore</a:t>
            </a:r>
            <a:r>
              <a:rPr lang="en-US" dirty="0"/>
              <a:t>-training/content/</a:t>
            </a:r>
          </a:p>
        </p:txBody>
      </p:sp>
    </p:spTree>
    <p:extLst>
      <p:ext uri="{BB962C8B-B14F-4D97-AF65-F5344CB8AC3E}">
        <p14:creationId xmlns:p14="http://schemas.microsoft.com/office/powerpoint/2010/main" val="125698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5802</TotalTime>
  <Words>999</Words>
  <Application>Microsoft Macintosh PowerPoint</Application>
  <PresentationFormat>Widescreen</PresentationFormat>
  <Paragraphs>253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Calibri</vt:lpstr>
      <vt:lpstr>Calibri Light</vt:lpstr>
      <vt:lpstr>Consolas</vt:lpstr>
      <vt:lpstr>Mangal</vt:lpstr>
      <vt:lpstr>Menlo</vt:lpstr>
      <vt:lpstr>Menlo-Italic</vt:lpstr>
      <vt:lpstr>Menlo-Regular</vt:lpstr>
      <vt:lpstr>Segoe UI</vt:lpstr>
      <vt:lpstr>Wingdings</vt:lpstr>
      <vt:lpstr>Office Theme</vt:lpstr>
      <vt:lpstr>ASP.NET Core &amp; ReactJS</vt:lpstr>
      <vt:lpstr>Agenda</vt:lpstr>
      <vt:lpstr>Time before SPA</vt:lpstr>
      <vt:lpstr>2004 first SPA – GMail &amp; AJAX</vt:lpstr>
      <vt:lpstr>Time before SPA</vt:lpstr>
      <vt:lpstr>Problems in modern web development</vt:lpstr>
      <vt:lpstr>Templating…jQuery style</vt:lpstr>
      <vt:lpstr>Mustache templating</vt:lpstr>
      <vt:lpstr>DOM manipulation</vt:lpstr>
      <vt:lpstr>Event handling?</vt:lpstr>
      <vt:lpstr>UI updates?</vt:lpstr>
      <vt:lpstr>ReactJS</vt:lpstr>
      <vt:lpstr>What is ReactJS?</vt:lpstr>
      <vt:lpstr>PowerPoint Presentation</vt:lpstr>
      <vt:lpstr>React component</vt:lpstr>
      <vt:lpstr>HTML inside JavaScripta ECMAScript?</vt:lpstr>
      <vt:lpstr>DEMO</vt:lpstr>
      <vt:lpstr>f(state, props) = view</vt:lpstr>
      <vt:lpstr>SPA means SPA</vt:lpstr>
      <vt:lpstr>Glossary</vt:lpstr>
      <vt:lpstr>JavaScriptServices</vt:lpstr>
      <vt:lpstr>Client side</vt:lpstr>
      <vt:lpstr>Good start</vt:lpstr>
      <vt:lpstr>Dotnet watch</vt:lpstr>
      <vt:lpstr>API Controller</vt:lpstr>
      <vt:lpstr>PowerPoint Presentation</vt:lpstr>
      <vt:lpstr>PowerPoint Presentation</vt:lpstr>
      <vt:lpstr>Swashbuckle</vt:lpstr>
      <vt:lpstr>Routing! react-router</vt:lpstr>
      <vt:lpstr>PowerPoint Presentation</vt:lpstr>
      <vt:lpstr>EntityFrameworkCore</vt:lpstr>
      <vt:lpstr>What next?</vt:lpstr>
      <vt:lpstr>PowerPoint Presentation</vt:lpstr>
    </vt:vector>
  </TitlesOfParts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Ilhamsyah</dc:creator>
  <cp:lastModifiedBy>Toni Petrina</cp:lastModifiedBy>
  <cp:revision>326</cp:revision>
  <dcterms:created xsi:type="dcterms:W3CDTF">2016-04-28T07:14:41Z</dcterms:created>
  <dcterms:modified xsi:type="dcterms:W3CDTF">2017-11-24T08:22:47Z</dcterms:modified>
</cp:coreProperties>
</file>